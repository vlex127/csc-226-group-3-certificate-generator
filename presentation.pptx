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67EEA"/>
                </a:solidFill>
                <a:latin typeface="Calibri"/>
              </a:defRPr>
            </a:pPr>
            <a:r>
              <a:t>Certificate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AA"/>
                </a:solidFill>
                <a:latin typeface="Calibri"/>
              </a:defRPr>
            </a:pPr>
            <a:r>
              <a:t>An OOP-based Certificate Generation System with Web UI,</a:t>
            </a:r>
            <a:br/>
            <a:r>
              <a:t>Design Patterns, and 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  <a:latin typeface="Calibri"/>
              </a:defRPr>
            </a:pPr>
            <a:r>
              <a:t>CSC 226 — Object-Oriented Programming  | 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AA"/>
                </a:solidFill>
                <a:latin typeface="Calibri"/>
              </a:defRPr>
            </a:pPr>
            <a:r>
              <a:t>[Your Names Here]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20640"/>
            <a:ext cx="1280160" cy="32004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7EEA"/>
                </a:solidFill>
              </a:defRPr>
            </a:pPr>
            <a:r>
              <a:t>C++17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5120640"/>
            <a:ext cx="1280160" cy="32004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7EEA"/>
                </a:solidFill>
              </a:defRPr>
            </a:pPr>
            <a:r>
              <a:t>Strategy Pattern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40" y="5120640"/>
            <a:ext cx="1280160" cy="32004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7EEA"/>
                </a:solidFill>
              </a:defRPr>
            </a:pPr>
            <a:r>
              <a:t>Template Method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5120640"/>
            <a:ext cx="1280160" cy="32004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7EEA"/>
                </a:solidFill>
              </a:defRPr>
            </a:pPr>
            <a:r>
              <a:t>Factory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5120640"/>
            <a:ext cx="1280160" cy="32004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7EEA"/>
                </a:solidFill>
              </a:defRPr>
            </a:pPr>
            <a:r>
              <a:t>std::map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5120640"/>
            <a:ext cx="1280160" cy="32004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7EEA"/>
                </a:solidFill>
              </a:defRPr>
            </a:pPr>
            <a:r>
              <a:t>Winsock HTTP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5120640"/>
            <a:ext cx="1280160" cy="32004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67EEA"/>
                </a:solidFill>
              </a:defRPr>
            </a:pPr>
            <a:r>
              <a:t>HTML/CSS/JS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67EEA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Calibri"/>
              </a:defRPr>
            </a:pPr>
            <a:r>
              <a:t>A desktop web application that generates printable HTML certificates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01168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  <a:latin typeface="Calibri"/>
              </a:defRPr>
            </a:pPr>
            <a:r>
              <a:t>Manual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Add students one at a time</a:t>
            </a:r>
            <a:br/>
            <a:r>
              <a:t>with input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463040"/>
            <a:ext cx="3474720" cy="201168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  <a:latin typeface="Calibri"/>
              </a:defRPr>
            </a:pPr>
            <a:r>
              <a:t>CSV Import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Batch-load students from</a:t>
            </a:r>
            <a:br/>
            <a:r>
              <a:t>comma-separated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474720" cy="201168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  <a:latin typeface="Calibri"/>
              </a:defRPr>
            </a:pPr>
            <a:r>
              <a:t>3 Visual Themes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Formal, Modern, and</a:t>
            </a:r>
            <a:br/>
            <a:r>
              <a:t>Minimalist certificate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3474720" cy="201168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  <a:latin typeface="Calibri"/>
              </a:defRPr>
            </a:pPr>
            <a:r>
              <a:t>Statistics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Per-course counts, grade</a:t>
            </a:r>
            <a:br/>
            <a:r>
              <a:t>distribution, average GPA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840480"/>
            <a:ext cx="3474720" cy="201168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  <a:latin typeface="Calibri"/>
              </a:defRPr>
            </a:pPr>
            <a:r>
              <a:t>Search &amp; Sort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663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Case-insensitive search,</a:t>
            </a:r>
            <a:br/>
            <a:r>
              <a:t>multi-field sorting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40480"/>
            <a:ext cx="3474720" cy="201168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  <a:latin typeface="Calibri"/>
              </a:defRPr>
            </a:pPr>
            <a:r>
              <a:t>Web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663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Browser-based interface</a:t>
            </a:r>
            <a:br/>
            <a:r>
              <a:t>powered by HTTP 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67EEA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Calibri"/>
              </a:defRPr>
            </a:pPr>
            <a:r>
              <a:t>Three-layer design: Presentation → Business Logic →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11680" cy="128016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0E0E0"/>
                </a:solidFill>
              </a:defRPr>
            </a:pPr>
            <a:r>
              <a:t>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463040"/>
            <a:ext cx="2011680" cy="128016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0E0E0"/>
                </a:solidFill>
              </a:defRPr>
            </a:pPr>
            <a:r>
              <a:t>HttpServer</a:t>
            </a:r>
            <a:br/>
            <a:r>
              <a:t>(Winsock TCP)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63040"/>
            <a:ext cx="2011680" cy="128016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0E0E0"/>
                </a:solidFill>
              </a:defRPr>
            </a:pPr>
            <a:r>
              <a:t>Certificate</a:t>
            </a:r>
            <a:br/>
            <a:r>
              <a:t>Generator</a:t>
            </a:r>
            <a:br/>
            <a:r>
              <a:t>(std::map)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63040"/>
            <a:ext cx="2011680" cy="128016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0E0E0"/>
                </a:solidFill>
              </a:defRPr>
            </a:pPr>
            <a:r>
              <a:t>Certificate</a:t>
            </a:r>
            <a:br/>
            <a:r>
              <a:t>(Template</a:t>
            </a:r>
            <a:br/>
            <a:r>
              <a:t>Method)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200400"/>
            <a:ext cx="1188720" cy="45720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2AA66"/>
                </a:solidFill>
              </a:defRPr>
            </a:pPr>
            <a:r>
              <a:t>Formal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3200400"/>
            <a:ext cx="1188720" cy="45720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2AA66"/>
                </a:solidFill>
              </a:defRPr>
            </a:pPr>
            <a:r>
              <a:t>Modern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0" y="3200400"/>
            <a:ext cx="1188720" cy="45720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2AA66"/>
                </a:solidFill>
              </a:defRPr>
            </a:pPr>
            <a:r>
              <a:t>Minimalist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7EE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7EE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AA"/>
                </a:solidFill>
                <a:latin typeface="Calibri"/>
              </a:defRPr>
            </a:pPr>
            <a:r>
              <a:t>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AA"/>
                </a:solidFill>
                <a:latin typeface="Calibri"/>
              </a:defRPr>
            </a:pPr>
            <a:r>
              <a:t>↙ CertificateTemplate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AA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AA"/>
                </a:solidFill>
                <a:latin typeface="Calibri"/>
              </a:defRPr>
            </a:pPr>
            <a:r>
              <a:t>Business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AA"/>
                </a:solidFill>
                <a:latin typeface="Calibri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67EEA"/>
                </a:solidFill>
                <a:latin typeface="Calibri"/>
              </a:defRPr>
            </a:pPr>
            <a:r>
              <a:t>File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Calibri"/>
              </a:defRPr>
            </a:pPr>
            <a:r>
              <a:t>10 source files organized into headers and implementations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02920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9692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.  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+-- CMakeLists.txt          # Build system (C++17 + ws2_32)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+-- main.cpp                # Entry point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+-- students.csv            # Sample data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+-- include/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+-- exceptions.hpp      # Custom exception classes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+-- person.hpp          # Person → Student hierarchy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+-- certificate.hpp     # Certificate + Template hierarchy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+-- generator.hpp       # Data manager (map, CRUD, stats)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+-- http_server.hpp     # HTTP server declaration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+-- src/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+-- person.cpp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+-- certificate.cpp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+-- generator.cpp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+-- http_server.cpp     # Winsock server + embedded web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67EEA"/>
                </a:solidFill>
                <a:latin typeface="Calibri"/>
              </a:defRPr>
            </a:pPr>
            <a:r>
              <a:t>OOP Concept: Inheritance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Calibri"/>
              </a:defRPr>
            </a:pPr>
            <a:r>
              <a:t>Person (abstract base) → Student (concrete subclass)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347472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class Person {                              // Abstract base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protected: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std::string name_;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public: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virtual std::string getDescription() const = 0; // pure virtual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};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class Student : public Person {              // is-a Person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std::string course_, grade_;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public: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double gradeToPoints() const;   // A→4.0, B+→3.3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std::string getDescription() const override;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Person is an abstract base class — cannot be instantiated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Student inherits name_ and adds course/grade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Virtual destructor ensures proper cleanup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getDescription() is overridden polymorphically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Demonstrates: is-a, code reuse, interface enforcement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Key method: gradeToPoints()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Converts 'A' → 4.0, 'B+' → 3.3, 'F' → 0.0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Also handles numeric grades ('93' → 93/25 = 3.72)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  Used by sorting and statistics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67EEA"/>
                </a:solidFill>
                <a:latin typeface="Calibri"/>
              </a:defRPr>
            </a:pPr>
            <a:r>
              <a:t>OOP Concept: Polymorphism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Calibri"/>
              </a:defRPr>
            </a:pPr>
            <a:r>
              <a:t>Certificate hierarchy — 3 subtypes with virtual dispatch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400800" cy="365760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6035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class Certificate {                         // Abstract base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public: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virtual std::string generateHTML() const;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virtual std::string getTypeName() const = 0;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};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class CertificateOfExcellence : public Certificate {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std::string getTypeName() const override { return "Excellence"; }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};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// Factory: returns the right subclass at runtime: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auto cert = makeCertificate(type, student, tmpl);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// getTypeName() dispatches to the correct override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std::cout &lt;&lt; cert-&gt;getTypeName();  // "Excellence"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0" y="1645920"/>
          <a:ext cx="3657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AA"/>
                          </a:solidFill>
                          <a:latin typeface="Calibri"/>
                        </a:defRPr>
                      </a:pPr>
                      <a:r>
                        <a:t>Certificate Type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AA"/>
                          </a:solidFill>
                          <a:latin typeface="Calibri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AA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Excellence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"Excellence"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Outstanding academic achievement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Completion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"Completion"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Successful course completion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Participation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"Participation"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Active participation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457200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888AA"/>
                </a:solidFill>
                <a:latin typeface="Calibri"/>
              </a:defRPr>
            </a:pPr>
            <a:r>
              <a:t>Runtime dispatch via virtual functions</a:t>
            </a:r>
          </a:p>
          <a:p>
            <a:pPr>
              <a:spcAft>
                <a:spcPts val="600"/>
              </a:spcAft>
              <a:defRPr sz="1200">
                <a:solidFill>
                  <a:srgbClr val="8888AA"/>
                </a:solidFill>
                <a:latin typeface="Calibri"/>
              </a:defRPr>
            </a:pPr>
            <a:r>
              <a:t>Base class defines interface (generateHTML)</a:t>
            </a:r>
          </a:p>
          <a:p>
            <a:pPr>
              <a:spcAft>
                <a:spcPts val="600"/>
              </a:spcAft>
              <a:defRPr sz="1200">
                <a:solidFill>
                  <a:srgbClr val="8888AA"/>
                </a:solidFill>
                <a:latin typeface="Calibri"/>
              </a:defRPr>
            </a:pPr>
            <a:r>
              <a:t>Subclasses only override type-specific behavior</a:t>
            </a:r>
          </a:p>
          <a:p>
            <a:pPr>
              <a:spcAft>
                <a:spcPts val="600"/>
              </a:spcAft>
              <a:defRPr sz="1200">
                <a:solidFill>
                  <a:srgbClr val="8888AA"/>
                </a:solidFill>
                <a:latin typeface="Calibri"/>
              </a:defRPr>
            </a:pPr>
            <a:r>
              <a:t>Factory pattern creates the right type from an enum</a:t>
            </a:r>
          </a:p>
          <a:p>
            <a:pPr>
              <a:spcAft>
                <a:spcPts val="600"/>
              </a:spcAft>
              <a:defRPr sz="1200">
                <a:solidFill>
                  <a:srgbClr val="8888AA"/>
                </a:solidFill>
                <a:latin typeface="Calibri"/>
              </a:defRPr>
            </a:pPr>
            <a:r>
              <a:t>Client code works with Certificate* without knowing concrete 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67EEA"/>
                </a:solidFill>
                <a:latin typeface="Calibri"/>
              </a:defRPr>
            </a:pPr>
            <a:r>
              <a:t>Design Pattern: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Calibri"/>
              </a:defRPr>
            </a:pPr>
            <a:r>
              <a:t>CertificateTemplate defines an interface; 3 concrete visual styles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486400" cy="384048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class CertificateTemplate {                  // Strategy interface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public: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virtual std::string header(...) const = 0;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virtual std::string styles() const = 0;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virtual std::string body(...) const = 0;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};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// Three concrete strategies, one per visual theme: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class FormalTemplate : public CertificateTemplate { ... };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class ModernTemplate : public CertificateTemplate { ... };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class MinimalistTemplate : public CertificateTemplate { ... };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// Strategy can be swapped at runtime via dropdown: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auto tmpl = makeTemplate(style);  // returns correct subclass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463040"/>
          <a:ext cx="4754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AA"/>
                          </a:solidFill>
                          <a:latin typeface="Calibri"/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AA"/>
                          </a:solidFill>
                          <a:latin typeface="Calibri"/>
                        </a:defRPr>
                      </a:pPr>
                      <a:r>
                        <a:t>Font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AA"/>
                          </a:solidFill>
                          <a:latin typeface="Calibri"/>
                        </a:defRPr>
                      </a:pPr>
                      <a:r>
                        <a:t>Style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Formal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Georgia (serif)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Double border, traditional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Modern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Helvetica (sans)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Gradient, rounded corners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Minimalist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Courier (mono)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Thin border, clean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38404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Open/Closed Principle: new templates don't change Certificate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Each template is independently testable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Composition over inheritance: Certificate has-a Template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67EEA"/>
                </a:solidFill>
                <a:latin typeface="Calibri"/>
              </a:defRPr>
            </a:pPr>
            <a:r>
              <a:t>Design Pattern: Template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Calibri"/>
              </a:defRPr>
            </a:pPr>
            <a:r>
              <a:t>generateHTML() defines the skeleton algorithm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486400" cy="274320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std::string Certificate::generateHTML() const {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// Fixed algorithm skeleton: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std::string typeName = getTypeName();  // ← virtual call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std::string html;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html += template_.header(typeName);    // ← strategy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html += template_.styles();            // ← strategy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html += template_.body(...);            // ← strategy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html += "&lt;/body&gt;&lt;/html&gt;";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return html;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}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463040"/>
          <a:ext cx="4754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AA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AA"/>
                          </a:solidFill>
                          <a:latin typeface="Calibri"/>
                        </a:defRPr>
                      </a:pPr>
                      <a:r>
                        <a:t>Who Controls It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1. Get certificate type name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Subclass (virtual override)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 Write &lt;head&gt; + &lt;title&gt;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Template (strategy)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 Write CSS styles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Template (strategy)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4. Write body with student data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Template (strategy)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5. Close HTML tags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Base class (fixed)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Template Method + Strategy work together: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- Template Method defines the algorithm structure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- Strategy provides the varying visual details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Benefits: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- Subclasses only provide type names/descriptions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- Templates handle all HTML/CSS generation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- Adding a new type or theme doesn't duplicate logic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67EEA"/>
                </a:solidFill>
                <a:latin typeface="Calibri"/>
              </a:defRPr>
            </a:pPr>
            <a:r>
              <a:t>Design Pattern: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Calibri"/>
              </a:defRPr>
            </a:pPr>
            <a:r>
              <a:t>Two factory functions encapsulate polymorphic object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  <a:latin typeface="Calibri"/>
              </a:defRPr>
            </a:pPr>
            <a:r>
              <a:t>makeTemplate()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320040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// makeTemplate() -- returns correct template subclass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unique_ptr&lt;CertificateTemplate&gt;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makeTemplate(TemplateStyle style) {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switch (style) {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case Formal: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return make_unique&lt;FormalTemplate&gt;();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case Modern: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return make_unique&lt;ModernTemplate&gt;();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case Minimalist: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return make_unique&lt;MinimalistTemplate&gt;();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  <a:latin typeface="Calibri"/>
              </a:defRPr>
            </a:pPr>
            <a:r>
              <a:t>makeCertificate()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5029200" cy="320040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6596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// makeCertificate() -- returns correct Certificate subclass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unique_ptr&lt;Certificate&gt;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makeCertificate(CertType t, const Student&amp; s,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    const CertificateTemplate&amp; tmpl) {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switch (t) {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case Excellence: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return make_unique&lt;CA&gt;(s, tmpl);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case Completion: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return make_unique&lt;CC&gt;(s, tmpl);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case Participation: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return make_unique&lt;CP&gt;(s, tmpl);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Caller specifies an enum; gets back the right polymorphic type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Uses std::unique_ptr for automatic memory management (RAII)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No conditional logic needed at the call site: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auto tmpl = makeTemplate(style);     // returns the right template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auto cert = makeCertificate(type, s, *tmpl); // returns the right cert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file &lt;&lt; cert-&gt;generateHTML();        // polymorphic dispatch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67EEA"/>
                </a:solidFill>
                <a:latin typeface="Calibri"/>
              </a:defRPr>
            </a:pPr>
            <a:r>
              <a:t>Data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Calibri"/>
              </a:defRPr>
            </a:pPr>
            <a:r>
              <a:t>std::map, std::sort, search, validation, statistics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669280" cy="274320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// Case-insensitive find using lambda + find_if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Student* CertificateGenerator::findStudent(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const std::string&amp; name) {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std::string lower = toLower(name);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auto it = find_if(students_.begin(), students_.end(),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[&amp;](auto&amp; pair) {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return toLower(pair.first) == lower;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});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return it != students_.end() ? &amp;it-&gt;second : nullptr;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486400" cy="274320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0876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// Sort by grade with custom comparator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void sortByGrade(bool desc) {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auto vec = getAllStudents();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sort(vec.begin(), vec.end(),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[desc](const Student&amp; a, const Student&amp; b) {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return desc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    ? a.gradeToPoints() &gt; b.gradeToPoints()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    : a.gradeToPoints() &lt; b.gradeToPoints();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});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students_.clear();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for (auto&amp; s : vec) students_[s.getName()] = s;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Database: std::map keyed by name (O(log n) lookup)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Case-insensitive find/remove/search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Input validation: name, course, grade format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Sort: name, grade (asc/desc), course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CSV parser: per-line error tolerance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3891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Statistics computed: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Total students, average GPA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Per-course enrollment counts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Grade distribution (A, B+, etc.)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Grade validation: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Letter: A, A-, B+, ..., F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Numeric: 0–100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67EEA"/>
                </a:solidFill>
                <a:latin typeface="Calibri"/>
              </a:defRPr>
            </a:pPr>
            <a:r>
              <a:t>Web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Calibri"/>
              </a:defRPr>
            </a:pPr>
            <a:r>
              <a:t>HTTP server (Winsock) serves a single-page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164592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// Accept loop — each request on a detached thread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while (true) {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SOCKET client = accept(server, NULL, NULL);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if (client == INVALID_SOCKET) break;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thread(handleClient, client, ref(gen)).detach();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}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29184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AA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AA"/>
                          </a:solidFill>
                          <a:latin typeface="Calibri"/>
                        </a:defRPr>
                      </a:pPr>
                      <a:r>
                        <a:t>Path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AA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/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Serve the web UI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/list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JSON of all students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/search?q=...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Filtered search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/stats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JSON statistics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/add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Insert student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/remove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Delete student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/load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CSV batch import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/generate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Create certificates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/sort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Reorder students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Single-page app: no page reloads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All HTML/CSS/JS embedded in C++ as raw string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Frontend uses fetch() for async API calls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6 tabs: Dashboard, Students, Add, CSV, Generate, Stats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Auto-opens browser via ShellExecuteA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API conventions: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All responses are JSON with 'status' field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Errors returned as {status:error, message:...}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Calibri"/>
              </a:defRPr>
            </a:pPr>
            <a:r>
              <a:t>  Frontend checks status and shows messages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67EEA"/>
                </a:solidFill>
                <a:latin typeface="Calibri"/>
              </a:defRPr>
            </a:pPr>
            <a:r>
              <a:t>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  <a:latin typeface="Calibri"/>
              </a:defRPr>
            </a:pPr>
            <a:r>
              <a:t>Custom exceptions, CSV tolerance, HTTP error responses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01168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class ValidationException : public exception {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// Thrown: empty name, empty course, invalid grade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};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class FileException : public exception {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// Thrown: file can't be opened</a:t>
            </a:r>
          </a:p>
          <a:p>
            <a:pPr>
              <a:spcAft>
                <a:spcPts val="2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029200" cy="228600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7764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// CSV: invalid lines are skipped, processing continues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while (getline(file, line)) {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lineNum++;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try {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addStudent(Student(name, course, grade));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loaded++;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} catch (const ValidationException&amp; e) {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cerr &lt;&lt; "Line " &lt;&lt; lineNum &lt;&lt; " skipped";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46304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AA"/>
                          </a:solidFill>
                          <a:latin typeface="Calibri"/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AA"/>
                          </a:solidFill>
                          <a:latin typeface="Calibri"/>
                        </a:defRPr>
                      </a:pPr>
                      <a:r>
                        <a:t>Exception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AA"/>
                          </a:solidFill>
                          <a:latin typeface="Calibri"/>
                        </a:defRPr>
                      </a:pPr>
                      <a:r>
                        <a:t>Response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addStudent()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Throws to caller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loadFromCsv()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Per-line skip + warning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loadFromCsv()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Throws to caller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HTTP handler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Any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JSON error response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HTTP handler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500 JSON</a:t>
                      </a:r>
                    </a:p>
                  </a:txBody>
                  <a:tcPr>
                    <a:solidFill>
                      <a:srgbClr val="1A1A3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4572000"/>
            <a:ext cx="5303520" cy="1371600"/>
          </a:xfrm>
          <a:prstGeom prst="roundRect">
            <a:avLst/>
          </a:prstGeom>
          <a:solidFill>
            <a:srgbClr val="0A0A1A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7091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// HTTP error responses are always JSON: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{ "status": "ok",    "message": "Added Alice" }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{ "status": "error", "message": "Invalid grade" }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{ "status": "error", "message": "Student not found"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667EE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AA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67EEA"/>
                </a:solidFill>
                <a:latin typeface="Calibri"/>
              </a:defRPr>
            </a:pPr>
            <a:r>
              <a:t>OOP Concepts Demonstrated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474720" cy="91440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Inheritance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Person → Student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560320"/>
            <a:ext cx="3474720" cy="91440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Polymorphism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Certificate + 3 subclasses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560320"/>
            <a:ext cx="3474720" cy="91440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Strategy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CertificateTemplate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3474720" cy="91440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Template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generateHTML() skeleton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749039"/>
            <a:ext cx="3474720" cy="91440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38404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Factory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2062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makeCertificate()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749039"/>
            <a:ext cx="3474720" cy="91440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8404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Composition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2062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Certificate → Template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60"/>
            <a:ext cx="3474720" cy="91440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Encapsulation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394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All data private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4937760"/>
            <a:ext cx="3474720" cy="91440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Exception Handling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5394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Custom exceptions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937760"/>
            <a:ext cx="3474720" cy="914400"/>
          </a:xfrm>
          <a:prstGeom prst="roundRect">
            <a:avLst/>
          </a:prstGeom>
          <a:solidFill>
            <a:srgbClr val="1A1A35"/>
          </a:solidFill>
          <a:ln w="12700">
            <a:solidFill>
              <a:srgbClr val="2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RAII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394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unique_ptr, ofstream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AA"/>
                </a:solidFill>
                <a:latin typeface="Calibri"/>
              </a:defRPr>
            </a:pPr>
            <a:r>
              <a:t>g++ -std=c++17 -I include main.cpp src/*.cpp -lws2_32 &amp;&amp; ./a.exe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